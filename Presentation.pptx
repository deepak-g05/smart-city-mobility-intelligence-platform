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3" r:id="rId9"/>
    <p:sldId id="263" r:id="rId10"/>
    <p:sldId id="265" r:id="rId11"/>
    <p:sldId id="267" r:id="rId12"/>
    <p:sldId id="271" r:id="rId13"/>
    <p:sldId id="272" r:id="rId14"/>
    <p:sldId id="274" r:id="rId15"/>
    <p:sldId id="275" r:id="rId16"/>
    <p:sldId id="276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644" y="2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3600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/root/work/urbanpulse/assets/dot_grid.png"/>
          <p:cNvPicPr>
            <a:picLocks noChangeAspect="1"/>
          </p:cNvPicPr>
          <p:nvPr/>
        </p:nvPicPr>
        <p:blipFill>
          <a:blip r:embed="rId3">
            <a:alphaModFix amt="65000"/>
          </a:blip>
          <a:stretch>
            <a:fillRect/>
          </a:stretch>
        </p:blipFill>
        <p:spPr>
          <a:xfrm>
            <a:off x="-365760" y="5394960"/>
            <a:ext cx="4389120" cy="2743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6928" y="5029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INFOSYS SPRINGBOARD  ·  DATA VISUALIZATION PROJECT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566928" y="2359152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Urban Pulse — Smart City Mobility Intelligence Platform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566928" y="2724912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Group 1 · DV-Team E   ·   Power BI Analytics   ·   Multimodal Mobility Data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4"/>
          <p:cNvSpPr/>
          <p:nvPr/>
        </p:nvSpPr>
        <p:spPr>
          <a:xfrm>
            <a:off x="566928" y="3310128"/>
            <a:ext cx="239572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676656" y="3401568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07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676656" y="387705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kern="0" spc="5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ANALYTICS MODULES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3108960" y="3310128"/>
            <a:ext cx="239572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3218688" y="3401568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04 / 04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3218688" y="387705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kern="0" spc="5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MILESTONES COMPLETE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5650992" y="3310128"/>
            <a:ext cx="239572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5760720" y="3401568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08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5760720" y="387705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kern="0" spc="5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WEEK DELIVERY SPRINT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8193024" y="3310128"/>
            <a:ext cx="239572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8302752" y="3401568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09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8302752" y="387705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kern="0" spc="5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LIVE DASHBOARD VIEWS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566928" y="444398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TEAM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566928" y="4718304"/>
            <a:ext cx="2395728" cy="768096"/>
          </a:xfrm>
          <a:prstGeom prst="roundRect">
            <a:avLst>
              <a:gd name="adj" fmla="val 9524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694944" y="4809744"/>
            <a:ext cx="21396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Sameer Singh &amp; Deepak Gavhane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400"/>
              </a:spcBef>
              <a:buNone/>
            </a:pPr>
            <a:r>
              <a:rPr lang="en-US" sz="830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Engineering &amp; Geospatial Analytics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3108960" y="4718304"/>
            <a:ext cx="2395728" cy="768096"/>
          </a:xfrm>
          <a:prstGeom prst="roundRect">
            <a:avLst>
              <a:gd name="adj" fmla="val 9524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3236976" y="4809744"/>
            <a:ext cx="21396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0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Suyash Agrawaal </a:t>
            </a:r>
          </a:p>
          <a:p>
            <a:pPr>
              <a:lnSpc>
                <a:spcPct val="150000"/>
              </a:lnSpc>
            </a:pPr>
            <a:r>
              <a:rPr lang="en-US" sz="830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BI Lead &amp; Project Management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400"/>
              </a:spcBef>
              <a:buNone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1"/>
          <p:cNvSpPr/>
          <p:nvPr/>
        </p:nvSpPr>
        <p:spPr>
          <a:xfrm>
            <a:off x="5650992" y="4718304"/>
            <a:ext cx="2395728" cy="768096"/>
          </a:xfrm>
          <a:prstGeom prst="roundRect">
            <a:avLst>
              <a:gd name="adj" fmla="val 9524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5779008" y="4809744"/>
            <a:ext cx="21396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Vaishnavi Gorakhanath Kshirsagar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400"/>
              </a:spcBef>
              <a:buNone/>
            </a:pPr>
            <a:r>
              <a:rPr lang="en-US" sz="830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Micromobility &amp; Equity Analysis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3"/>
          <p:cNvSpPr/>
          <p:nvPr/>
        </p:nvSpPr>
        <p:spPr>
          <a:xfrm>
            <a:off x="8193024" y="4718304"/>
            <a:ext cx="2395728" cy="768096"/>
          </a:xfrm>
          <a:prstGeom prst="roundRect">
            <a:avLst>
              <a:gd name="adj" fmla="val 9524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sz="1000" b="1" dirty="0" err="1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Chandushree</a:t>
            </a:r>
            <a:r>
              <a:rPr lang="en-US" sz="10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J B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lang="en-US" sz="850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Transit &amp; Ride-Hailing Analytics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4"/>
          <p:cNvSpPr/>
          <p:nvPr/>
        </p:nvSpPr>
        <p:spPr>
          <a:xfrm>
            <a:off x="8321040" y="4809744"/>
            <a:ext cx="21396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566928" y="56327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CITIES ANALYZED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6"/>
          <p:cNvSpPr/>
          <p:nvPr/>
        </p:nvSpPr>
        <p:spPr>
          <a:xfrm>
            <a:off x="1984248" y="56144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:  Bengaluru  ·  Delhi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7"/>
          <p:cNvSpPr/>
          <p:nvPr/>
        </p:nvSpPr>
        <p:spPr>
          <a:xfrm>
            <a:off x="566928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Infosys Springboard  ·  Data Visualization Project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1">
            <a:extLst>
              <a:ext uri="{FF2B5EF4-FFF2-40B4-BE49-F238E27FC236}">
                <a16:creationId xmlns:a16="http://schemas.microsoft.com/office/drawing/2014/main" id="{0945964C-9B00-9DF8-7F90-FB71DFB3BC25}"/>
              </a:ext>
            </a:extLst>
          </p:cNvPr>
          <p:cNvSpPr/>
          <p:nvPr/>
        </p:nvSpPr>
        <p:spPr>
          <a:xfrm>
            <a:off x="566928" y="932688"/>
            <a:ext cx="9692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URBAN MOBILITY AND TRAFFIC INTELLIGENCE DASHBOARD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5" name="Image 0" descr="/root/work/urbanpulse/assets/network_motif.png">
            <a:extLst>
              <a:ext uri="{FF2B5EF4-FFF2-40B4-BE49-F238E27FC236}">
                <a16:creationId xmlns:a16="http://schemas.microsoft.com/office/drawing/2014/main" id="{51E5EF90-5F85-7E96-267D-CD8AACB35F6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8000"/>
          </a:blip>
          <a:stretch>
            <a:fillRect/>
          </a:stretch>
        </p:blipFill>
        <p:spPr>
          <a:xfrm>
            <a:off x="7589520" y="-822960"/>
            <a:ext cx="5486400" cy="4059936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16878697-FC76-2902-973A-AD370610CB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6688" y="334816"/>
            <a:ext cx="1657350" cy="12668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PROJECT STATEMENT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Why Urban Pulse?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Mobility data is abundant but fragmented — planners still lack one unified view of the city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66928" y="1627632"/>
            <a:ext cx="2651760" cy="1700784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94944" y="1773936"/>
            <a:ext cx="384048" cy="384048"/>
          </a:xfrm>
          <a:prstGeom prst="ellipse">
            <a:avLst/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94944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01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207008" y="1755648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Siloed Data Sources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13232" y="2231136"/>
            <a:ext cx="235915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Transit, ride-hailing, cycling and weather data are collected and managed independently, with no shared model.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401568" y="1627632"/>
            <a:ext cx="2651760" cy="1700784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529584" y="1773936"/>
            <a:ext cx="384048" cy="384048"/>
          </a:xfrm>
          <a:prstGeom prst="ellipse">
            <a:avLst/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529584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02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041648" y="1755648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Cross-Modal View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547872" y="2231136"/>
            <a:ext cx="235915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Analysts can't see how demand shifts between transit, ride-hailing and micromobility across the same trip.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236208" y="1627632"/>
            <a:ext cx="2651760" cy="1700784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364224" y="1773936"/>
            <a:ext cx="384048" cy="384048"/>
          </a:xfrm>
          <a:prstGeom prst="ellipse">
            <a:avLst/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364224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03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76288" y="1755648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Reactive, Not Predictive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382512" y="2231136"/>
            <a:ext cx="235915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Without forecasting or anomaly detection, agencies respond to congestion instead of anticipating it.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070848" y="1627632"/>
            <a:ext cx="2651760" cy="1700784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198864" y="1773936"/>
            <a:ext cx="384048" cy="384048"/>
          </a:xfrm>
          <a:prstGeom prst="ellipse">
            <a:avLst/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198864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04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710928" y="1755648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Equity Blind Spots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217152" y="2231136"/>
            <a:ext cx="235915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Underserved neighborhoods and accessibility gaps go unmeasured without a common access index.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66928" y="3703320"/>
            <a:ext cx="11057839" cy="1417320"/>
          </a:xfrm>
          <a:prstGeom prst="roundRect">
            <a:avLst>
              <a:gd name="adj" fmla="val 6452"/>
            </a:avLst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41248" y="38770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GOAL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41248" y="4169664"/>
            <a:ext cx="1050919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Build a unified smart-city mobility intelligence platform that integrates multimodal transportation data, weather information, demographic indicators, and geospatial datasets into one decision-support system — enabling city planners, transit operators, and administrators to monitor demand, evaluate equity, and forecast mobility trends through interactive dashboards.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66928" y="534924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Raw multimodal data, disconnected.  We turned it into one integrated mobility-intelligence platform.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66928" y="65196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Urban Mobility and Traffic Intelligence Dashboard · Urban Pulse · Group 1 · DV-Team E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881567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Infosys Springboard   ·   02 / 16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96CF2E87-F90E-FEBF-7B58-60505CA211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373" y="197793"/>
            <a:ext cx="1657350" cy="12668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PROJECT OBJECTIVES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Objectives &amp; Deliverables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End-to-end scope of what Urban Pulse delivers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66928" y="1645920"/>
            <a:ext cx="363931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94944" y="1792224"/>
            <a:ext cx="384048" cy="384048"/>
          </a:xfrm>
          <a:prstGeom prst="ellipse">
            <a:avLst/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94944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207008" y="1773936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Unified Multimodal Analytics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13232" y="2249424"/>
            <a:ext cx="3346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Integrate transit, ride-hailing, cycling, weather &amp; demographic data into one model.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370832" y="1645920"/>
            <a:ext cx="363931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498848" y="1792224"/>
            <a:ext cx="384048" cy="384048"/>
          </a:xfrm>
          <a:prstGeom prst="ellipse">
            <a:avLst/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498848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10912" y="1773936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Interactive Dashboards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17136" y="2249424"/>
            <a:ext cx="3346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Role-based Power BI dashboards for demand, reliability and equity reporting.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174736" y="1645920"/>
            <a:ext cx="363931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302752" y="1792224"/>
            <a:ext cx="384048" cy="384048"/>
          </a:xfrm>
          <a:prstGeom prst="ellipse">
            <a:avLst/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302752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814816" y="1773936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Automated ETL Pipeline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321040" y="2249424"/>
            <a:ext cx="3346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Ingest and refresh mobility datasets from multiple public sources automatically.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66928" y="2980944"/>
            <a:ext cx="363931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94944" y="3127248"/>
            <a:ext cx="384048" cy="384048"/>
          </a:xfrm>
          <a:prstGeom prst="ellipse">
            <a:avLst/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94944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207008" y="3108960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Geospatial Analytics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13232" y="3584448"/>
            <a:ext cx="3346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Heatmaps, flow maps, accessibility isochrones and mobility-corridor visualization.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370832" y="2980944"/>
            <a:ext cx="363931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498848" y="3127248"/>
            <a:ext cx="384048" cy="384048"/>
          </a:xfrm>
          <a:prstGeom prst="ellipse">
            <a:avLst/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498848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010912" y="3108960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Mobility Health Scoring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517136" y="3584448"/>
            <a:ext cx="3346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Mobility Access Index (MAI) and City Mobility Health Score for performance monitoring.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174736" y="2980944"/>
            <a:ext cx="363931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302752" y="3127248"/>
            <a:ext cx="384048" cy="384048"/>
          </a:xfrm>
          <a:prstGeom prst="ellipse">
            <a:avLst/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302752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814816" y="3108960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Forecasting &amp; Anomaly Detection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321040" y="3584448"/>
            <a:ext cx="3346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Predict demand trends and flag operational disruptions before they escalate.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66928" y="444398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DELIVERABLES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66928" y="471830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13232" y="4718304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Unified Mobility Datamart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3383280" y="471830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3529584" y="4718304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9-Page Power BI Dashboard Suite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199632" y="471830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345936" y="4718304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Final PPT + Project Report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9015984" y="471830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9162288" y="4718304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GitHub Repository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566928" y="65196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Urban Mobility and Traffic Intelligence Dashboard · Urban Pulse · Group 1 · DV-Team E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8881567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Infosys Springboard   ·   03 / 16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8EB44346-E7F4-11FE-B066-5469DE8858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6698" y="196215"/>
            <a:ext cx="1657350" cy="12668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PLATFORM MODULES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Seven Analytics Modules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Each module is owned by a team track and feeds the shared mobility datamart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66928" y="1627632"/>
            <a:ext cx="2615184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94944" y="1773936"/>
            <a:ext cx="384048" cy="384048"/>
          </a:xfrm>
          <a:prstGeom prst="ellipse">
            <a:avLst/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94944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01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207008" y="1755648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Acquisition &amp; Integration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13232" y="2231136"/>
            <a:ext cx="23225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Collect &amp; standardize transit, ride-hailing, bike-share, weather and demographic data from 5 public sources.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323844" y="1627632"/>
            <a:ext cx="2615184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451860" y="1773936"/>
            <a:ext cx="384048" cy="384048"/>
          </a:xfrm>
          <a:prstGeom prst="ellipse">
            <a:avLst/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451860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02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963924" y="1755648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Geospatial Mobility Analytics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470148" y="2231136"/>
            <a:ext cx="23225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Origin-destination flows, accessibility isochrones, congestion hotspot visualization.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080760" y="1627632"/>
            <a:ext cx="2615184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208776" y="1773936"/>
            <a:ext cx="384048" cy="384048"/>
          </a:xfrm>
          <a:prstGeom prst="ellipse">
            <a:avLst/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208776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03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720840" y="1755648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Transit Performance Analytics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227064" y="2231136"/>
            <a:ext cx="23225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Reliability metrics, schedule adherence, headway variance, route performance.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837676" y="1627632"/>
            <a:ext cx="2615184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965692" y="1773936"/>
            <a:ext cx="384048" cy="384048"/>
          </a:xfrm>
          <a:prstGeom prst="ellipse">
            <a:avLst/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965692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04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477756" y="1755648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Ride-Hailing &amp; Demand Intelligence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983980" y="2231136"/>
            <a:ext cx="23225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Demand patterns, surge behavior, modal substitution, fare elasticity.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66928" y="3547872"/>
            <a:ext cx="2615184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94944" y="3694176"/>
            <a:ext cx="384048" cy="384048"/>
          </a:xfrm>
          <a:prstGeom prst="ellipse">
            <a:avLst/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94944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05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207008" y="3675888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Cycling &amp; Micromobility Analytics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13232" y="4151376"/>
            <a:ext cx="23225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Bike-share utilization, station availability, rebalancing prediction.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323844" y="3547872"/>
            <a:ext cx="2615184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3451860" y="3694176"/>
            <a:ext cx="384048" cy="384048"/>
          </a:xfrm>
          <a:prstGeom prst="ellipse">
            <a:avLst/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451860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06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3963924" y="3675888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Mobility Equity Analysis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3470148" y="4151376"/>
            <a:ext cx="23225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Mobility Access Index (MAI), demographic accessibility comparison.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080760" y="3547872"/>
            <a:ext cx="2615184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208776" y="3694176"/>
            <a:ext cx="384048" cy="384048"/>
          </a:xfrm>
          <a:prstGeom prst="ellipse">
            <a:avLst/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208776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07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720840" y="3675888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Executive Intelligence &amp; Forecasting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227064" y="4151376"/>
            <a:ext cx="23225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City-wide mobility health metrics, trend forecasting, anomaly detection.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66928" y="65196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Urban Mobility and Traffic Intelligence Dashboard · Urban Pulse · Group 1 · DV-Team E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8881567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Infosys Springboard   ·   04 / 16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C3EDCA0F-C79B-11F4-C191-C76590801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3853" y="134683"/>
            <a:ext cx="1657350" cy="12668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SYSTEM DESIGN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System Workflow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From raw multimodal data to stakeholder decisions, in six stages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566928" y="65196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Urban Mobility and Traffic Intelligence Dashboard · Urban Pulse · Group 1 · DV-Team E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8881567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Infosys Springboard   ·   05 / 16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4" name="Image 0">
            <a:extLst>
              <a:ext uri="{FF2B5EF4-FFF2-40B4-BE49-F238E27FC236}">
                <a16:creationId xmlns:a16="http://schemas.microsoft.com/office/drawing/2014/main" id="{D81A47A6-3FEA-B4D0-7D6B-C6C61D6E0F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5096" y="1865376"/>
            <a:ext cx="10801807" cy="4224528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F34D127-4374-2E40-5D53-51E0CAEDEE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5293" y="134683"/>
            <a:ext cx="1657350" cy="12668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SYSTEM DESIGN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58302" y="768096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System Architecture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sources → ETL &amp; modeling → analytics modules → visualization → stakeholders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8881567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Infosys Springboard   ·   06 / 16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5" name="Image 0">
            <a:extLst>
              <a:ext uri="{FF2B5EF4-FFF2-40B4-BE49-F238E27FC236}">
                <a16:creationId xmlns:a16="http://schemas.microsoft.com/office/drawing/2014/main" id="{61303328-693F-0F56-BE5F-525EBBFBAA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1927" y="1879092"/>
            <a:ext cx="8997041" cy="4370832"/>
          </a:xfrm>
          <a:prstGeom prst="rect">
            <a:avLst/>
          </a:prstGeom>
        </p:spPr>
      </p:pic>
      <p:sp>
        <p:nvSpPr>
          <p:cNvPr id="67" name="Text 5">
            <a:extLst>
              <a:ext uri="{FF2B5EF4-FFF2-40B4-BE49-F238E27FC236}">
                <a16:creationId xmlns:a16="http://schemas.microsoft.com/office/drawing/2014/main" id="{2506FE4F-271F-CCDB-9404-4FC1DA053EA1}"/>
              </a:ext>
            </a:extLst>
          </p:cNvPr>
          <p:cNvSpPr/>
          <p:nvPr/>
        </p:nvSpPr>
        <p:spPr>
          <a:xfrm>
            <a:off x="566928" y="65196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Urban Mobility and Traffic Intelligence Dashboard · Urban Pulse · Group 1 · DV-Team E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49D35F4A-A5B0-C269-7F17-F8CC7FDA12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8968" y="123703"/>
            <a:ext cx="1657350" cy="12668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SYSTEM DESIGN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Database Schema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41046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Enterprise data warehouse — star schema design, 2 fact tables + 6 shared dimensions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Text 104"/>
          <p:cNvSpPr/>
          <p:nvPr/>
        </p:nvSpPr>
        <p:spPr>
          <a:xfrm>
            <a:off x="566928" y="65196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Urban Mobility and Traffic Intelligence Dashboard · Urban Pulse · Group 1 · DV-Team E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Text 105"/>
          <p:cNvSpPr/>
          <p:nvPr/>
        </p:nvSpPr>
        <p:spPr>
          <a:xfrm>
            <a:off x="8881567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Infosys Springboard   ·   07 / 16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0" name="Image 0">
            <a:extLst>
              <a:ext uri="{FF2B5EF4-FFF2-40B4-BE49-F238E27FC236}">
                <a16:creationId xmlns:a16="http://schemas.microsoft.com/office/drawing/2014/main" id="{C55A7A24-724A-B410-BF28-7E4E61A627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5096" y="1959102"/>
            <a:ext cx="10801807" cy="4224528"/>
          </a:xfrm>
          <a:prstGeom prst="rect">
            <a:avLst/>
          </a:prstGeom>
        </p:spPr>
      </p:pic>
      <p:pic>
        <p:nvPicPr>
          <p:cNvPr id="112" name="Picture 111">
            <a:extLst>
              <a:ext uri="{FF2B5EF4-FFF2-40B4-BE49-F238E27FC236}">
                <a16:creationId xmlns:a16="http://schemas.microsoft.com/office/drawing/2014/main" id="{A941BD14-6F23-AD37-4EBD-D785F18471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1415" y="78486"/>
            <a:ext cx="1657350" cy="12668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UNDER THE HOOD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Technology Stack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tools and platforms powering Urban Pulse, end to end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66928" y="164592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94944" y="1792224"/>
            <a:ext cx="384048" cy="384048"/>
          </a:xfrm>
          <a:prstGeom prst="ellipse">
            <a:avLst/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94944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01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207008" y="1773936"/>
            <a:ext cx="4626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Sources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13232" y="2249424"/>
            <a:ext cx="5102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Public transit, ride-hailing, bike-share, weather and demographic data ingested from five external sources.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13232" y="2798064"/>
            <a:ext cx="5102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30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TOOLS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13232" y="2999232"/>
            <a:ext cx="716890" cy="256032"/>
          </a:xfrm>
          <a:prstGeom prst="roundRect">
            <a:avLst>
              <a:gd name="adj" fmla="val 50000"/>
            </a:avLst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68096" y="2999232"/>
            <a:ext cx="6071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GitHub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521562" y="2999232"/>
            <a:ext cx="987552" cy="256032"/>
          </a:xfrm>
          <a:prstGeom prst="roundRect">
            <a:avLst>
              <a:gd name="adj" fmla="val 50000"/>
            </a:avLst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576426" y="2999232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GTFS Feeds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600554" y="2999232"/>
            <a:ext cx="1258214" cy="256032"/>
          </a:xfrm>
          <a:prstGeom prst="roundRect">
            <a:avLst>
              <a:gd name="adj" fmla="val 50000"/>
            </a:avLst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655418" y="2999232"/>
            <a:ext cx="11484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Open-Meteo API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950208" y="2999232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005072" y="2999232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Govt. Handbooks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13232" y="3346704"/>
            <a:ext cx="716890" cy="256032"/>
          </a:xfrm>
          <a:prstGeom prst="roundRect">
            <a:avLst>
              <a:gd name="adj" fmla="val 50000"/>
            </a:avLst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68096" y="3346704"/>
            <a:ext cx="6071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Kaggle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190488" y="164592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318504" y="1792224"/>
            <a:ext cx="384048" cy="384048"/>
          </a:xfrm>
          <a:prstGeom prst="ellipse">
            <a:avLst/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318504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02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830568" y="1773936"/>
            <a:ext cx="4626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Preparation &amp; Modeling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336792" y="2249424"/>
            <a:ext cx="5102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Schema standardization, cleansing and star-schema modeling before analytics begins.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336792" y="2798064"/>
            <a:ext cx="5102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30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TOOLS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336792" y="2999232"/>
            <a:ext cx="1055218" cy="256032"/>
          </a:xfrm>
          <a:prstGeom prst="roundRect">
            <a:avLst>
              <a:gd name="adj" fmla="val 50000"/>
            </a:avLst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391656" y="2999232"/>
            <a:ext cx="9454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Power Query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483450" y="2999232"/>
            <a:ext cx="1055218" cy="256032"/>
          </a:xfrm>
          <a:prstGeom prst="roundRect">
            <a:avLst>
              <a:gd name="adj" fmla="val 50000"/>
            </a:avLst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538314" y="2999232"/>
            <a:ext cx="9454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Star Schema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630107" y="2999232"/>
            <a:ext cx="1122883" cy="256032"/>
          </a:xfrm>
          <a:prstGeom prst="roundRect">
            <a:avLst>
              <a:gd name="adj" fmla="val 50000"/>
            </a:avLst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684971" y="2999232"/>
            <a:ext cx="10131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DAX Measures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9844430" y="2999232"/>
            <a:ext cx="1596542" cy="256032"/>
          </a:xfrm>
          <a:prstGeom prst="roundRect">
            <a:avLst>
              <a:gd name="adj" fmla="val 50000"/>
            </a:avLst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899294" y="2999232"/>
            <a:ext cx="14868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Incremental Refresh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66928" y="3995928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94944" y="4142232"/>
            <a:ext cx="384048" cy="384048"/>
          </a:xfrm>
          <a:prstGeom prst="ellipse">
            <a:avLst/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94944" y="4142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03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207008" y="4123944"/>
            <a:ext cx="4626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Visualization &amp; BI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13232" y="4599432"/>
            <a:ext cx="5102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Nine interactive Power BI dashboards, one for every analytics module in the platform.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13232" y="5148072"/>
            <a:ext cx="5102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30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TOOLS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713232" y="5349240"/>
            <a:ext cx="1393546" cy="256032"/>
          </a:xfrm>
          <a:prstGeom prst="roundRect">
            <a:avLst>
              <a:gd name="adj" fmla="val 50000"/>
            </a:avLst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68096" y="5349240"/>
            <a:ext cx="12838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Power BI Desktop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2198218" y="5349240"/>
            <a:ext cx="1393546" cy="256032"/>
          </a:xfrm>
          <a:prstGeom prst="roundRect">
            <a:avLst>
              <a:gd name="adj" fmla="val 50000"/>
            </a:avLst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2253082" y="5349240"/>
            <a:ext cx="12838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Power BI Service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3683203" y="5349240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3738067" y="5349240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Geospatial Maps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713232" y="5696712"/>
            <a:ext cx="1190549" cy="256032"/>
          </a:xfrm>
          <a:prstGeom prst="roundRect">
            <a:avLst>
              <a:gd name="adj" fmla="val 50000"/>
            </a:avLst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768096" y="5696712"/>
            <a:ext cx="108082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Drill-Through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6190488" y="3995928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6318504" y="4142232"/>
            <a:ext cx="384048" cy="384048"/>
          </a:xfrm>
          <a:prstGeom prst="ellipse">
            <a:avLst/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6318504" y="4142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04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6830568" y="4123944"/>
            <a:ext cx="4626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Collaboration &amp; Delivery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6336792" y="4599432"/>
            <a:ext cx="5102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Agile, sprint-based delivery across four milestones with shared version control.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6336792" y="5148072"/>
            <a:ext cx="5102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30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TOOLS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6336792" y="5349240"/>
            <a:ext cx="716890" cy="256032"/>
          </a:xfrm>
          <a:prstGeom prst="roundRect">
            <a:avLst>
              <a:gd name="adj" fmla="val 50000"/>
            </a:avLst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6391656" y="5349240"/>
            <a:ext cx="6071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GitHub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7145122" y="5349240"/>
            <a:ext cx="1190549" cy="256032"/>
          </a:xfrm>
          <a:prstGeom prst="roundRect">
            <a:avLst>
              <a:gd name="adj" fmla="val 50000"/>
            </a:avLst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7199986" y="5349240"/>
            <a:ext cx="108082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Agile Sprints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8427110" y="5349240"/>
            <a:ext cx="987552" cy="256032"/>
          </a:xfrm>
          <a:prstGeom prst="roundRect">
            <a:avLst>
              <a:gd name="adj" fmla="val 50000"/>
            </a:avLst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8481974" y="5349240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PowerPoint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9506102" y="5349240"/>
            <a:ext cx="1596542" cy="256032"/>
          </a:xfrm>
          <a:prstGeom prst="roundRect">
            <a:avLst>
              <a:gd name="adj" fmla="val 50000"/>
            </a:avLst>
          </a:prstGeom>
          <a:solidFill>
            <a:srgbClr val="E4F3F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9560966" y="5349240"/>
            <a:ext cx="14868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Stakeholder Reviews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566928" y="65196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Urban Mobility and Traffic Intelligence Dashboard · Urban Pulse · Group 1 · DV-Team E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8881567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Infosys Springboard   ·   08 / 16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5E5EC542-6F7F-61CB-E525-E36BBC6A8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9105" y="47435"/>
            <a:ext cx="1657350" cy="12668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566928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spc="200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PROJECT MILESTONES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"/>
          <p:cNvSpPr/>
          <p:nvPr/>
        </p:nvSpPr>
        <p:spPr>
          <a:xfrm>
            <a:off x="566928" y="768096"/>
            <a:ext cx="1106424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Milestones 1 &amp; 2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"/>
          <p:cNvSpPr/>
          <p:nvPr/>
        </p:nvSpPr>
        <p:spPr>
          <a:xfrm>
            <a:off x="566928" y="124000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Acquisition &amp; Data Modeling  ·  Geospatial &amp; Transit Analytics  ·  Weeks 1–4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yebrow"/>
          <p:cNvSpPr/>
          <p:nvPr/>
        </p:nvSpPr>
        <p:spPr>
          <a:xfrm>
            <a:off x="566928" y="1650000"/>
            <a:ext cx="535212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spc="200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MILESTONE 01 · WEEKS 1–2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"/>
          <p:cNvSpPr/>
          <p:nvPr/>
        </p:nvSpPr>
        <p:spPr>
          <a:xfrm>
            <a:off x="566928" y="1950000"/>
            <a:ext cx="535212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Acquisition &amp; Data Modeling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Bullets"/>
          <p:cNvSpPr/>
          <p:nvPr/>
        </p:nvSpPr>
        <p:spPr>
          <a:xfrm>
            <a:off x="566928" y="2570000"/>
            <a:ext cx="535212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–"/>
            </a:pPr>
            <a:r>
              <a:rPr lang="en-US" sz="105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Connected 5 public data sources (GitHub, GTFS, govt. handbooks, Kaggle, Open-Meteo) spanning transit, ride-hailing, traffic, weather and demographic data.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–"/>
            </a:pPr>
            <a:r>
              <a:rPr lang="en-US" sz="105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Integrated 6 core datasets across Bengaluru and Delhi, reaching 100% integration status.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–"/>
            </a:pPr>
            <a:r>
              <a:rPr lang="en-US" sz="105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Designed a star-schema data model (Fact_Trip, Fact_Transit_Event + shared dimensions) for cross-domain analysis.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ard"/>
          <p:cNvSpPr/>
          <p:nvPr/>
        </p:nvSpPr>
        <p:spPr>
          <a:xfrm>
            <a:off x="566928" y="3910896"/>
            <a:ext cx="5352120" cy="2389104"/>
          </a:xfrm>
          <a:prstGeom prst="roundRect">
            <a:avLst>
              <a:gd name="adj" fmla="val 17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MilestoneIm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910896"/>
            <a:ext cx="5352120" cy="2389104"/>
          </a:xfrm>
          <a:prstGeom prst="rect">
            <a:avLst/>
          </a:prstGeom>
        </p:spPr>
      </p:pic>
      <p:sp>
        <p:nvSpPr>
          <p:cNvPr id="10" name="Caption"/>
          <p:cNvSpPr/>
          <p:nvPr/>
        </p:nvSpPr>
        <p:spPr>
          <a:xfrm>
            <a:off x="566928" y="6089904"/>
            <a:ext cx="5352120" cy="600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Acquisition &amp; Integration Dashboard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Eyebrow"/>
          <p:cNvSpPr/>
          <p:nvPr/>
        </p:nvSpPr>
        <p:spPr>
          <a:xfrm>
            <a:off x="6279048" y="1650000"/>
            <a:ext cx="535212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spc="200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MILESTONE 02 · WEEKS 3–4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itle"/>
          <p:cNvSpPr/>
          <p:nvPr/>
        </p:nvSpPr>
        <p:spPr>
          <a:xfrm>
            <a:off x="6279048" y="1950000"/>
            <a:ext cx="535212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Geospatial &amp; Transit Analytics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Bullets"/>
          <p:cNvSpPr/>
          <p:nvPr/>
        </p:nvSpPr>
        <p:spPr>
          <a:xfrm>
            <a:off x="6279048" y="2570000"/>
            <a:ext cx="535212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–"/>
            </a:pPr>
            <a:r>
              <a:rPr lang="en-US" sz="105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Mapped Bengaluru's bus-stop and metro-station network with interactive drill-down filters.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–"/>
            </a:pPr>
            <a:r>
              <a:rPr lang="en-US" sz="105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Ranked the Top-15 busiest stops and metro ridership by line (Green, Purple, Yellow).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–"/>
            </a:pPr>
            <a:r>
              <a:rPr lang="en-US" sz="105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Delivered map-based dashboards covering both the bus (4K+ routes) and metro networks.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ard"/>
          <p:cNvSpPr/>
          <p:nvPr/>
        </p:nvSpPr>
        <p:spPr>
          <a:xfrm>
            <a:off x="6279048" y="4110000"/>
            <a:ext cx="5352120" cy="2280000"/>
          </a:xfrm>
          <a:prstGeom prst="roundRect">
            <a:avLst>
              <a:gd name="adj" fmla="val 17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MilestoneIm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9047" y="3910896"/>
            <a:ext cx="5345719" cy="2389104"/>
          </a:xfrm>
          <a:prstGeom prst="rect">
            <a:avLst/>
          </a:prstGeom>
        </p:spPr>
      </p:pic>
      <p:sp>
        <p:nvSpPr>
          <p:cNvPr id="16" name="Caption"/>
          <p:cNvSpPr/>
          <p:nvPr/>
        </p:nvSpPr>
        <p:spPr>
          <a:xfrm>
            <a:off x="6279048" y="6196872"/>
            <a:ext cx="5352120" cy="578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Bengaluru Smart Mobility Dashboard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FooterLeft"/>
          <p:cNvSpPr/>
          <p:nvPr/>
        </p:nvSpPr>
        <p:spPr>
          <a:xfrm>
            <a:off x="566928" y="65196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Urban Mobility and Traffic Intelligence Dashboard · Urban Pulse · Group 1 · DV-Team E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FooterRight"/>
          <p:cNvSpPr/>
          <p:nvPr/>
        </p:nvSpPr>
        <p:spPr>
          <a:xfrm>
            <a:off x="8881567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Infosys Springboard   ·   09 / 16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2121" y="13335"/>
            <a:ext cx="1657350" cy="12668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566928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spc="200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PROJECT MILESTONES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"/>
          <p:cNvSpPr/>
          <p:nvPr/>
        </p:nvSpPr>
        <p:spPr>
          <a:xfrm>
            <a:off x="566928" y="768096"/>
            <a:ext cx="1106424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Milestones 3 &amp; 4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"/>
          <p:cNvSpPr/>
          <p:nvPr/>
        </p:nvSpPr>
        <p:spPr>
          <a:xfrm>
            <a:off x="566928" y="124000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Demand Intelligence &amp; Mobility Analytics  ·  Equity, Forecasting &amp; Finalization  ·  Weeks 5–8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yebrow"/>
          <p:cNvSpPr/>
          <p:nvPr/>
        </p:nvSpPr>
        <p:spPr>
          <a:xfrm>
            <a:off x="566928" y="1650000"/>
            <a:ext cx="535212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spc="200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MILESTONE 03 · WEEKS 5–6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"/>
          <p:cNvSpPr/>
          <p:nvPr/>
        </p:nvSpPr>
        <p:spPr>
          <a:xfrm>
            <a:off x="566928" y="1950000"/>
            <a:ext cx="535212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Demand Intelligence &amp; Mobility Analytics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Bullets"/>
          <p:cNvSpPr/>
          <p:nvPr/>
        </p:nvSpPr>
        <p:spPr>
          <a:xfrm>
            <a:off x="566928" y="2570000"/>
            <a:ext cx="535212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–"/>
            </a:pPr>
            <a:r>
              <a:rPr lang="en-US" sz="105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Tracked bike/e-scooter demand across Bounce and Yulu by weekday, hour and fare trend.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–"/>
            </a:pPr>
            <a:r>
              <a:rPr lang="en-US" sz="105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Compared vehicle-type usage and trip distance vs fare; monitored rebalancing status.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–"/>
            </a:pPr>
            <a:r>
              <a:rPr lang="en-US" sz="105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Surfaced two sharp daily demand peaks — morning and evening — to guide fleet rebalancing.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ard"/>
          <p:cNvSpPr/>
          <p:nvPr/>
        </p:nvSpPr>
        <p:spPr>
          <a:xfrm>
            <a:off x="566928" y="4110000"/>
            <a:ext cx="5352120" cy="2280000"/>
          </a:xfrm>
          <a:prstGeom prst="roundRect">
            <a:avLst>
              <a:gd name="adj" fmla="val 17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MilestoneIm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832" y="3740896"/>
            <a:ext cx="5358216" cy="2649104"/>
          </a:xfrm>
          <a:prstGeom prst="rect">
            <a:avLst/>
          </a:prstGeom>
        </p:spPr>
      </p:pic>
      <p:sp>
        <p:nvSpPr>
          <p:cNvPr id="10" name="Caption"/>
          <p:cNvSpPr/>
          <p:nvPr/>
        </p:nvSpPr>
        <p:spPr>
          <a:xfrm>
            <a:off x="566928" y="6352556"/>
            <a:ext cx="535212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Ride-Hailing Dashboard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Eyebrow"/>
          <p:cNvSpPr/>
          <p:nvPr/>
        </p:nvSpPr>
        <p:spPr>
          <a:xfrm>
            <a:off x="6279048" y="1650000"/>
            <a:ext cx="535212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spc="200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MILESTONE 04 · WEEKS 7–8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itle"/>
          <p:cNvSpPr/>
          <p:nvPr/>
        </p:nvSpPr>
        <p:spPr>
          <a:xfrm>
            <a:off x="6279048" y="1950000"/>
            <a:ext cx="535212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Equity, Forecasting &amp; Finalization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Bullets"/>
          <p:cNvSpPr/>
          <p:nvPr/>
        </p:nvSpPr>
        <p:spPr>
          <a:xfrm>
            <a:off x="6279048" y="2570000"/>
            <a:ext cx="535212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–"/>
            </a:pPr>
            <a:r>
              <a:rPr lang="en-US" sz="105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Built the City Mobility Health Score (84.6%) combining transit, traffic and weather signals.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–"/>
            </a:pPr>
            <a:r>
              <a:rPr lang="en-US" sz="105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Tracked congestion, speed, ridership and weather in one executive read-out ('Good').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–"/>
            </a:pPr>
            <a:r>
              <a:rPr lang="en-US" sz="105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Delivered a single-page executive rollup covering 8K bus stops and 4K routes.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ard"/>
          <p:cNvSpPr/>
          <p:nvPr/>
        </p:nvSpPr>
        <p:spPr>
          <a:xfrm>
            <a:off x="6279048" y="4110000"/>
            <a:ext cx="5352120" cy="2280000"/>
          </a:xfrm>
          <a:prstGeom prst="roundRect">
            <a:avLst>
              <a:gd name="adj" fmla="val 17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MilestoneIm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9048" y="3740896"/>
            <a:ext cx="5352120" cy="2649104"/>
          </a:xfrm>
          <a:prstGeom prst="rect">
            <a:avLst/>
          </a:prstGeom>
        </p:spPr>
      </p:pic>
      <p:sp>
        <p:nvSpPr>
          <p:cNvPr id="16" name="Caption"/>
          <p:cNvSpPr/>
          <p:nvPr/>
        </p:nvSpPr>
        <p:spPr>
          <a:xfrm>
            <a:off x="6279048" y="6300000"/>
            <a:ext cx="5352120" cy="3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Bengaluru Executive Intelligence Dashboard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FooterLeft"/>
          <p:cNvSpPr/>
          <p:nvPr/>
        </p:nvSpPr>
        <p:spPr>
          <a:xfrm>
            <a:off x="566928" y="65196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Urban Mobility and Traffic Intelligence Dashboard · Urban Pulse · Group 1 · DV-Team E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FooterRight"/>
          <p:cNvSpPr/>
          <p:nvPr/>
        </p:nvSpPr>
        <p:spPr>
          <a:xfrm>
            <a:off x="8881567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Infosys Springboard   ·   10 / 16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2121" y="13335"/>
            <a:ext cx="1657350" cy="12668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566928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spc="200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DASHBOARD DEEP-DIVE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"/>
          <p:cNvSpPr/>
          <p:nvPr/>
        </p:nvSpPr>
        <p:spPr>
          <a:xfrm>
            <a:off x="566928" y="768096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Additional Dashboard Highlights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"/>
          <p:cNvSpPr/>
          <p:nvPr/>
        </p:nvSpPr>
        <p:spPr>
          <a:xfrm>
            <a:off x="566928" y="12984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closer look at four more Power BI views from the Urban Pulse suite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"/>
          <p:cNvSpPr/>
          <p:nvPr/>
        </p:nvSpPr>
        <p:spPr>
          <a:xfrm>
            <a:off x="566928" y="1750000"/>
            <a:ext cx="538212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Bengaluru Smart Mobility Intelligence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ellDesc"/>
          <p:cNvSpPr/>
          <p:nvPr/>
        </p:nvSpPr>
        <p:spPr>
          <a:xfrm>
            <a:off x="566928" y="2000000"/>
            <a:ext cx="538212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single-page view that fuses population, weather and traffic signals for the whole city.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ridImg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280000"/>
            <a:ext cx="3869820" cy="1578360"/>
          </a:xfrm>
          <a:prstGeom prst="rect">
            <a:avLst/>
          </a:prstGeom>
        </p:spPr>
      </p:pic>
      <p:sp>
        <p:nvSpPr>
          <p:cNvPr id="8" name="Caption"/>
          <p:cNvSpPr/>
          <p:nvPr/>
        </p:nvSpPr>
        <p:spPr>
          <a:xfrm>
            <a:off x="566928" y="3620000"/>
            <a:ext cx="5382120" cy="719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48M population · 90.9% urban · 340M metro rides tracked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itle"/>
          <p:cNvSpPr/>
          <p:nvPr/>
        </p:nvSpPr>
        <p:spPr>
          <a:xfrm>
            <a:off x="6249048" y="1750000"/>
            <a:ext cx="538212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Bengaluru Transit Analytics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ellDesc"/>
          <p:cNvSpPr/>
          <p:nvPr/>
        </p:nvSpPr>
        <p:spPr>
          <a:xfrm>
            <a:off x="6249048" y="2000000"/>
            <a:ext cx="538212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Weather, routes and payments — the operational pulse of the bus network.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GridImg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4428" y="2280000"/>
            <a:ext cx="3869820" cy="1539672"/>
          </a:xfrm>
          <a:prstGeom prst="rect">
            <a:avLst/>
          </a:prstGeom>
        </p:spPr>
      </p:pic>
      <p:sp>
        <p:nvSpPr>
          <p:cNvPr id="12" name="Caption"/>
          <p:cNvSpPr/>
          <p:nvPr/>
        </p:nvSpPr>
        <p:spPr>
          <a:xfrm>
            <a:off x="6249048" y="3620000"/>
            <a:ext cx="5382120" cy="650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65.2% avg. humidity · 39.4 km/h avg. speed · 15 stops ranked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itle"/>
          <p:cNvSpPr/>
          <p:nvPr/>
        </p:nvSpPr>
        <p:spPr>
          <a:xfrm>
            <a:off x="566928" y="4200000"/>
            <a:ext cx="538212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Bengaluru Traffic Analytics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ellDesc"/>
          <p:cNvSpPr/>
          <p:nvPr/>
        </p:nvSpPr>
        <p:spPr>
          <a:xfrm>
            <a:off x="566928" y="4450000"/>
            <a:ext cx="538212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Congestion, road capacity and incidents across the city's busiest corridors.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GridImg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4730000"/>
            <a:ext cx="3869820" cy="1539672"/>
          </a:xfrm>
          <a:prstGeom prst="rect">
            <a:avLst/>
          </a:prstGeom>
        </p:spPr>
      </p:pic>
      <p:sp>
        <p:nvSpPr>
          <p:cNvPr id="16" name="Caption"/>
          <p:cNvSpPr/>
          <p:nvPr/>
        </p:nvSpPr>
        <p:spPr>
          <a:xfrm>
            <a:off x="566928" y="6069999"/>
            <a:ext cx="5382120" cy="629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80.8% avg. congestion · 14K incidents · 29.24K avg. traffic volume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itle"/>
          <p:cNvSpPr/>
          <p:nvPr/>
        </p:nvSpPr>
        <p:spPr>
          <a:xfrm>
            <a:off x="6249048" y="4200000"/>
            <a:ext cx="538212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Bengaluru Metro Analytics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CellDesc"/>
          <p:cNvSpPr/>
          <p:nvPr/>
        </p:nvSpPr>
        <p:spPr>
          <a:xfrm>
            <a:off x="6249048" y="4450000"/>
            <a:ext cx="538212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Ticketing behavior and ridership trends across the metro network.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GridImg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9048" y="4730000"/>
            <a:ext cx="3865860" cy="1539672"/>
          </a:xfrm>
          <a:prstGeom prst="rect">
            <a:avLst/>
          </a:prstGeom>
        </p:spPr>
      </p:pic>
      <p:sp>
        <p:nvSpPr>
          <p:cNvPr id="20" name="Caption"/>
          <p:cNvSpPr/>
          <p:nvPr/>
        </p:nvSpPr>
        <p:spPr>
          <a:xfrm>
            <a:off x="6249048" y="6070000"/>
            <a:ext cx="5382120" cy="705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340M total ridership · 76.6% physical tickets · 4 pass types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FooterLeft"/>
          <p:cNvSpPr/>
          <p:nvPr/>
        </p:nvSpPr>
        <p:spPr>
          <a:xfrm>
            <a:off x="566928" y="65196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Urban Mobility and Traffic Intelligence Dashboard · Urban Pulse · Group 1 · DV-Team E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FooterRight"/>
          <p:cNvSpPr/>
          <p:nvPr/>
        </p:nvSpPr>
        <p:spPr>
          <a:xfrm>
            <a:off x="8881567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Infosys Springboard   ·   11 / 16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62121" y="13335"/>
            <a:ext cx="1657350" cy="12668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COMPARATIVE ANALYSIS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Cross-City Benchmarking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Comparative mobility health — Delhi vs Bengaluru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66928" y="1627632"/>
            <a:ext cx="7955280" cy="45262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0" descr="/root/work/urbanpulse/assets/dash/delhi_vs_bengaluru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4944" y="1755648"/>
            <a:ext cx="7699248" cy="3977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4944" y="5843016"/>
            <a:ext cx="7699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Delhi vs Bengaluru — comparative mobility dashboard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8814816" y="1627632"/>
            <a:ext cx="2809951" cy="4526280"/>
          </a:xfrm>
          <a:prstGeom prst="roundRect">
            <a:avLst>
              <a:gd name="adj" fmla="val 2603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997696" y="1810512"/>
            <a:ext cx="24441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TAKEAWAYS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997696" y="2139696"/>
            <a:ext cx="2444191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–"/>
            </a:pPr>
            <a:r>
              <a:rPr lang="en-US" sz="12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Bengaluru's Mobility Health Score (84.6%) reflects a denser metro + bus network across a larger population base (48M vs 17M).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–"/>
            </a:pPr>
            <a:r>
              <a:rPr lang="en-US" sz="12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Bengaluru posts a higher average travel speed (39.4 km/h) than Delhi (28.1 km/h) in this sample corridor set.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–"/>
            </a:pPr>
            <a:r>
              <a:rPr lang="en-US" sz="12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Delhi's metro ridership skews toward the Purple and Yellow lines; Bengaluru's Green and Purple lines dominate.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–"/>
            </a:pPr>
            <a:r>
              <a:rPr lang="en-US" sz="12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Cross-city benchmarking helps prioritize which mobility interventions transfer well between metros.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66928" y="65196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Urban Mobility and Traffic Intelligence Dashboard · Urban Pulse · Group 1 · DV-Team E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881567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Infosys Springboard   ·   12 / 16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7D032CD-2FAC-F2B0-4067-D9E0A3783B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8503" y="56579"/>
            <a:ext cx="1657350" cy="12668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SYNTHESIS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Insights &amp; Business Impact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the numbers add up to, why it matters, and what we recommend doing about it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66928" y="1645920"/>
            <a:ext cx="363931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1773936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INSIGHT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1938528"/>
            <a:ext cx="331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Physical ticketing still dominates the metro (76.6%).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2450592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IMPACT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2606040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94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Slower boarding, thinner ridership data and higher cash-handling overhead for operators.</a:t>
            </a:r>
            <a:endParaRPr lang="en-US" sz="9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" y="3108960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RECOMMENDATION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31520" y="3264408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94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Prioritize digital-ticket incentives to cut queue times and boost data granularity.</a:t>
            </a:r>
            <a:endParaRPr lang="en-US" sz="9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370832" y="1645920"/>
            <a:ext cx="363931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35424" y="1773936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INSIGHT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35424" y="1938528"/>
            <a:ext cx="331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Bangalore North is the densest, highest-demand district.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35424" y="2450592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IMPACT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35424" y="2606040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94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Under-investment here compounds overcrowding faster than in any other zone.</a:t>
            </a:r>
            <a:endParaRPr lang="en-US" sz="9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35424" y="3108960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RECOMMENDATION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35424" y="3264408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94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Front-load transit and micromobility infrastructure investment here first.</a:t>
            </a:r>
            <a:endParaRPr lang="en-US" sz="9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174736" y="1645920"/>
            <a:ext cx="363931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339328" y="1773936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INSIGHT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339328" y="1938528"/>
            <a:ext cx="331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Congestion averages 80.8% with 14K incidents logged.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339328" y="2450592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IMPACT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339328" y="2606040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94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Two corridors account for a disproportionate share of delays and safety risk.</a:t>
            </a:r>
            <a:endParaRPr lang="en-US" sz="9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339328" y="3108960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RECOMMENDATION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339328" y="3264408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94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Target CMH Road and 100 Feet Road first for capacity and safety upgrades.</a:t>
            </a:r>
            <a:endParaRPr lang="en-US" sz="9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66928" y="3959352"/>
            <a:ext cx="363931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31520" y="4087368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INSIGHT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31520" y="4251960"/>
            <a:ext cx="331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Weather has a measurable but moderate effect on mobility.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31520" y="4764024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IMPACT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31520" y="4919472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94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Fixed schedules over- or under-provision service on atypical-weather days.</a:t>
            </a:r>
            <a:endParaRPr lang="en-US" sz="9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31520" y="5422392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RECOMMENDATION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31520" y="5577840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94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Build weather-adjusted forecasting rather than static, fixed schedules.</a:t>
            </a:r>
            <a:endParaRPr lang="en-US" sz="9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370832" y="3959352"/>
            <a:ext cx="363931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535424" y="4087368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INSIGHT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535424" y="4251960"/>
            <a:ext cx="331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Bike &amp; e-scooter demand peaks sharply at two daily windows.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535424" y="4764024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IMPACT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535424" y="4919472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94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Fixed rebalancing timers leave fleets empty or overstocked outside peak hours.</a:t>
            </a:r>
            <a:endParaRPr lang="en-US" sz="9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535424" y="5422392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RECOMMENDATION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4535424" y="5577840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94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Shift to dynamic fleet rebalancing around commute peaks, not fixed timers.</a:t>
            </a:r>
            <a:endParaRPr lang="en-US" sz="9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8174736" y="3959352"/>
            <a:ext cx="363931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8339328" y="4087368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INSIGHT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8339328" y="4251960"/>
            <a:ext cx="331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Bengaluru's Mobility Health Score (84.6%) leads the benchmark.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8339328" y="4764024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IMPACT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8339328" y="4919472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94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underlying data model has already proven itself at city scale.</a:t>
            </a:r>
            <a:endParaRPr lang="en-US" sz="9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8339328" y="5422392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RECOMMENDATION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8339328" y="5577840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94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 Bengaluru's data model as the template for future city rollouts.</a:t>
            </a:r>
            <a:endParaRPr lang="en-US" sz="9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566928" y="65196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Urban Mobility and Traffic Intelligence Dashboard · Urban Pulse · Group 1 · DV-Team E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8881567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Infosys Springboard   ·   13 / 16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97C4BAA0-AD2B-A21E-89FD-C7397914ED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6698" y="56579"/>
            <a:ext cx="1657350" cy="12668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OUR TEAM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Team &amp; Responsibilities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DV-Team E · Group 1 · 5-student, 8-week sprint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66928" y="1645920"/>
            <a:ext cx="357621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04088" y="1764792"/>
            <a:ext cx="457200" cy="457200"/>
          </a:xfrm>
          <a:prstGeom prst="ellipse">
            <a:avLst/>
          </a:prstGeom>
          <a:solidFill>
            <a:srgbClr val="0B2E4E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04088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01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225296" y="1792224"/>
            <a:ext cx="27532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Engineer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225296" y="2029968"/>
            <a:ext cx="27532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Sameer Singh / Deepak Gavhane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49808" y="2432304"/>
            <a:ext cx="32104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Acquisition &amp; Integration · Database / Star Schema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49808" y="2834640"/>
            <a:ext cx="321045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Collected &amp; standardized transit, ride-hailing, bike-share, weather and demographic data; built ETL pipelines with incremental refresh; designed and loaded the star schema; ensured data-quality thresholds were met.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307738" y="1645920"/>
            <a:ext cx="357621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444898" y="1764792"/>
            <a:ext cx="457200" cy="457200"/>
          </a:xfrm>
          <a:prstGeom prst="ellipse">
            <a:avLst/>
          </a:prstGeom>
          <a:solidFill>
            <a:srgbClr val="0B2E4E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444898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02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966106" y="1792224"/>
            <a:ext cx="27532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Geospatial Analyst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966106" y="2029968"/>
            <a:ext cx="27532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Sameer Singh / Deepak Gavhane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490618" y="2432304"/>
            <a:ext cx="32104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Geospatial Mobility Analytics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490618" y="2834640"/>
            <a:ext cx="321045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Built origin-destination flow analysis, accessibility &amp; isochrone maps, congestion hotspot visualization, geographic drill-down and weather overlays.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048549" y="1645920"/>
            <a:ext cx="357621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185709" y="1764792"/>
            <a:ext cx="457200" cy="457200"/>
          </a:xfrm>
          <a:prstGeom prst="ellipse">
            <a:avLst/>
          </a:prstGeom>
          <a:solidFill>
            <a:srgbClr val="0B2E4E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185709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03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706917" y="1792224"/>
            <a:ext cx="27532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Transit &amp; Ride-Hailing Analyst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706917" y="2029968"/>
            <a:ext cx="27532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900" dirty="0" err="1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Chandushree</a:t>
            </a:r>
            <a:r>
              <a:rPr lang="en-US" sz="90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J B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231429" y="2432304"/>
            <a:ext cx="32104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Transit Performance Analytics · Ride-Hailing &amp; Demand Intelligence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231429" y="2834640"/>
            <a:ext cx="321045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Calculated reliability metrics, schedule adherence and headway variance; analyzed ride-hailing demand, surge behavior, modal substitution and fare elasticity.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437333" y="3959352"/>
            <a:ext cx="357621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2574493" y="4078224"/>
            <a:ext cx="457200" cy="457200"/>
          </a:xfrm>
          <a:prstGeom prst="ellipse">
            <a:avLst/>
          </a:prstGeom>
          <a:solidFill>
            <a:srgbClr val="0B2E4E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2574493" y="4078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04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095701" y="4105656"/>
            <a:ext cx="27532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Micromobility &amp; Equity Analyst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3095701" y="4343400"/>
            <a:ext cx="27532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Vaishnavi Gorakhanath Kshirsagar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2620213" y="4745736"/>
            <a:ext cx="32104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Cycling &amp; Micromobility Analytics · Mobility Equity Analysis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2620213" y="5148072"/>
            <a:ext cx="321045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Tracked bike-share utilization &amp; station availability, predicted rebalancing needs; calculated the Mobility Access Index (MAI) and identified underserved neighborhoods.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178144" y="3959352"/>
            <a:ext cx="357621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315304" y="4078224"/>
            <a:ext cx="457200" cy="457200"/>
          </a:xfrm>
          <a:prstGeom prst="ellipse">
            <a:avLst/>
          </a:prstGeom>
          <a:solidFill>
            <a:srgbClr val="0B2E4E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315304" y="4078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05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836512" y="4105656"/>
            <a:ext cx="27532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BI Lead / Project Manager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836512" y="4343400"/>
            <a:ext cx="27532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Suyash Agrawaal 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361024" y="4745736"/>
            <a:ext cx="32104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Executive Intelligence &amp; Forecasting · Project Coordination &amp; QA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361024" y="5148072"/>
            <a:ext cx="321045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Built the City Mobility Health Score, forecasting &amp; anomaly detection, executive dashboards; coordinated sprint planning, integration testing and stakeholder reporting.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66928" y="65196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Urban Mobility and Traffic Intelligence Dashboard · Urban Pulse · Group 1 · DV-Team E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8881567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Infosys Springboard   ·   14 / 16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AD8F4640-B9F1-2CED-0079-EA39417BB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4382" y="105922"/>
            <a:ext cx="1657350" cy="12668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RETROSPECTIVE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Challenges &amp; Solutions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issues encountered during the sprint and how the team resolved them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11057839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68096" y="1773936"/>
            <a:ext cx="511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CHALLENGE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68096" y="1956816"/>
            <a:ext cx="511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Heterogeneous Data Formats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8096" y="2194560"/>
            <a:ext cx="511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95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Five independent sources — GTFS feeds, ride-hailing exports, bike-share logs and weather APIs — each shipped different schemas, units and identifiers, risking silent data-quality errors downstream.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306160" y="1773936"/>
            <a:ext cx="511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SOLUTION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306160" y="1956816"/>
            <a:ext cx="511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Built a standardized schema-mapping layer and automated cleansing workflows before loading into the shared star schema, so every dashboard reads from one validated source of truth.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66928" y="2834640"/>
            <a:ext cx="11057839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68096" y="2944368"/>
            <a:ext cx="511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CHALLENGE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68096" y="3127248"/>
            <a:ext cx="511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Defining a Fair Mobility Access Index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68096" y="3364992"/>
            <a:ext cx="511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95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Comparing accessibility across demographic groups needed a normalized, defensible scoring method — an ad-hoc metric would have undermined the equity findings.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306160" y="2944368"/>
            <a:ext cx="511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SOLUTION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306160" y="3127248"/>
            <a:ext cx="511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Benchmarked MAI against transit frequency, walk-time and income-quintile data to produce a normalized 0–100 score city planners can act on directly.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66928" y="4005072"/>
            <a:ext cx="11057839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68096" y="4114800"/>
            <a:ext cx="511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CHALLENGE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68096" y="4297680"/>
            <a:ext cx="511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Dashboard Performance at Scale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68096" y="4535424"/>
            <a:ext cx="511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95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Trip-level and transit-event-level fact tables grew large enough to slow interactive filtering, threatening the responsiveness executives expect from a live dashboard.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06160" y="4114800"/>
            <a:ext cx="511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SOLUTION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306160" y="4297680"/>
            <a:ext cx="511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Optimized the star schema with incremental refresh and pre-aggregated tables, keeping every executive-level view fast under real data volumes.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66928" y="5175504"/>
            <a:ext cx="11057839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68096" y="5285232"/>
            <a:ext cx="511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CHALLENGE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68096" y="5468112"/>
            <a:ext cx="511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Coordinating Five Parallel Tracks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68096" y="5705856"/>
            <a:ext cx="511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95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Five module owners working independently on a tight 8-week timeline risked integration drift between datasets, naming conventions and delivery dates.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306160" y="5285232"/>
            <a:ext cx="511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A6E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SOLUTION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306160" y="5468112"/>
            <a:ext cx="511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Ran weekly sprint check-ins against a shared milestone tracker, catching integration gaps early and keeping all four milestones on schedule.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66928" y="65196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Urban Mobility and Traffic Intelligence Dashboard · Urban Pulse · Group 1 · DV-Team E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881567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6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Infosys Springboard   ·   15 / 16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471AE71-B9B8-4CE3-736A-EDF250985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1250" y="84011"/>
            <a:ext cx="1657350" cy="12668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566928" y="330000"/>
            <a:ext cx="105156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spc="200" dirty="0">
                <a:solidFill>
                  <a:srgbClr val="0E8C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WHAT'S NEXT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"/>
          <p:cNvSpPr/>
          <p:nvPr/>
        </p:nvSpPr>
        <p:spPr>
          <a:xfrm>
            <a:off x="566928" y="590000"/>
            <a:ext cx="1106424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Future Scope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"/>
          <p:cNvSpPr/>
          <p:nvPr/>
        </p:nvSpPr>
        <p:spPr>
          <a:xfrm>
            <a:off x="566928" y="1000000"/>
            <a:ext cx="1060704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Where Urban Pulse goes beyond this 8-week sprint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ard"/>
          <p:cNvSpPr/>
          <p:nvPr/>
        </p:nvSpPr>
        <p:spPr>
          <a:xfrm>
            <a:off x="566928" y="1400000"/>
            <a:ext cx="3568080" cy="780000"/>
          </a:xfrm>
          <a:prstGeom prst="roundRect">
            <a:avLst>
              <a:gd name="adj" fmla="val 1731"/>
            </a:avLst>
          </a:prstGeom>
          <a:solidFill>
            <a:srgbClr val="F7FAFA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copeLabel"/>
          <p:cNvSpPr/>
          <p:nvPr/>
        </p:nvSpPr>
        <p:spPr>
          <a:xfrm>
            <a:off x="696928" y="1490000"/>
            <a:ext cx="334808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1.  Scale to More Cities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copeDesc"/>
          <p:cNvSpPr/>
          <p:nvPr/>
        </p:nvSpPr>
        <p:spPr>
          <a:xfrm>
            <a:off x="696928" y="1800000"/>
            <a:ext cx="334808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Extend the same data model beyond Bengaluru and Delhi to additional Tier-1 and Tier-2 Indian cities.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ard"/>
          <p:cNvSpPr/>
          <p:nvPr/>
        </p:nvSpPr>
        <p:spPr>
          <a:xfrm>
            <a:off x="4315008" y="1400000"/>
            <a:ext cx="3568080" cy="780000"/>
          </a:xfrm>
          <a:prstGeom prst="roundRect">
            <a:avLst>
              <a:gd name="adj" fmla="val 1731"/>
            </a:avLst>
          </a:prstGeom>
          <a:solidFill>
            <a:srgbClr val="F7FAFA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copeLabel"/>
          <p:cNvSpPr/>
          <p:nvPr/>
        </p:nvSpPr>
        <p:spPr>
          <a:xfrm>
            <a:off x="4445008" y="1490000"/>
            <a:ext cx="334808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2.  Real-Time Data Refresh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copeDesc"/>
          <p:cNvSpPr/>
          <p:nvPr/>
        </p:nvSpPr>
        <p:spPr>
          <a:xfrm>
            <a:off x="4445008" y="1800000"/>
            <a:ext cx="334808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Move from batch-based ETL to streaming refresh so dashboards reflect live operational conditions.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ard"/>
          <p:cNvSpPr/>
          <p:nvPr/>
        </p:nvSpPr>
        <p:spPr>
          <a:xfrm>
            <a:off x="8063088" y="1400000"/>
            <a:ext cx="3568080" cy="780000"/>
          </a:xfrm>
          <a:prstGeom prst="roundRect">
            <a:avLst>
              <a:gd name="adj" fmla="val 1731"/>
            </a:avLst>
          </a:prstGeom>
          <a:solidFill>
            <a:srgbClr val="F7FAFA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copeLabel"/>
          <p:cNvSpPr/>
          <p:nvPr/>
        </p:nvSpPr>
        <p:spPr>
          <a:xfrm>
            <a:off x="8193088" y="1490000"/>
            <a:ext cx="334808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3.  Public Equity Scorecard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copeDesc"/>
          <p:cNvSpPr/>
          <p:nvPr/>
        </p:nvSpPr>
        <p:spPr>
          <a:xfrm>
            <a:off x="8193088" y="1800000"/>
            <a:ext cx="334808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Publish the Mobility Access Index as a public-facing scorecard for city administrators and residents.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ard"/>
          <p:cNvSpPr/>
          <p:nvPr/>
        </p:nvSpPr>
        <p:spPr>
          <a:xfrm>
            <a:off x="566928" y="2330000"/>
            <a:ext cx="3568080" cy="780000"/>
          </a:xfrm>
          <a:prstGeom prst="roundRect">
            <a:avLst>
              <a:gd name="adj" fmla="val 1731"/>
            </a:avLst>
          </a:prstGeom>
          <a:solidFill>
            <a:srgbClr val="F7FAFA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copeLabel"/>
          <p:cNvSpPr/>
          <p:nvPr/>
        </p:nvSpPr>
        <p:spPr>
          <a:xfrm>
            <a:off x="696928" y="2420000"/>
            <a:ext cx="334808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4.  Predictive Maintenance Alerts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copeDesc"/>
          <p:cNvSpPr/>
          <p:nvPr/>
        </p:nvSpPr>
        <p:spPr>
          <a:xfrm>
            <a:off x="696928" y="2730000"/>
            <a:ext cx="334808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Feed anomaly detection directly into transit-operator workflows and real-time alerting.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Card"/>
          <p:cNvSpPr/>
          <p:nvPr/>
        </p:nvSpPr>
        <p:spPr>
          <a:xfrm>
            <a:off x="4315008" y="2330000"/>
            <a:ext cx="3568080" cy="780000"/>
          </a:xfrm>
          <a:prstGeom prst="roundRect">
            <a:avLst>
              <a:gd name="adj" fmla="val 1731"/>
            </a:avLst>
          </a:prstGeom>
          <a:solidFill>
            <a:srgbClr val="F7FAFA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copeLabel"/>
          <p:cNvSpPr/>
          <p:nvPr/>
        </p:nvSpPr>
        <p:spPr>
          <a:xfrm>
            <a:off x="4445008" y="2420000"/>
            <a:ext cx="334808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5.  Citizen-Facing Companion App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copeDesc"/>
          <p:cNvSpPr/>
          <p:nvPr/>
        </p:nvSpPr>
        <p:spPr>
          <a:xfrm>
            <a:off x="4445008" y="2730000"/>
            <a:ext cx="334808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Surface personalized, MAI-aware route recommendations for everyday commuters.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Card"/>
          <p:cNvSpPr/>
          <p:nvPr/>
        </p:nvSpPr>
        <p:spPr>
          <a:xfrm>
            <a:off x="8063088" y="2330000"/>
            <a:ext cx="3568080" cy="780000"/>
          </a:xfrm>
          <a:prstGeom prst="roundRect">
            <a:avLst>
              <a:gd name="adj" fmla="val 1731"/>
            </a:avLst>
          </a:prstGeom>
          <a:solidFill>
            <a:srgbClr val="F7FAFA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9AA7B4">
                <a:alpha val="28000"/>
              </a:srgbClr>
            </a:outerShdw>
          </a:effectLst>
        </p:spPr>
        <p:txBody>
          <a:bodyPr/>
          <a:lstStyle/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copeLabel"/>
          <p:cNvSpPr/>
          <p:nvPr/>
        </p:nvSpPr>
        <p:spPr>
          <a:xfrm>
            <a:off x="8193088" y="2420000"/>
            <a:ext cx="334808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6.  Open Data &amp; API Access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copeDesc"/>
          <p:cNvSpPr/>
          <p:nvPr/>
        </p:nvSpPr>
        <p:spPr>
          <a:xfrm>
            <a:off x="8193088" y="2730000"/>
            <a:ext cx="334808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Publish anonymized mobility datasets via a public API for researchers and civic-tech partners.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itle"/>
          <p:cNvSpPr/>
          <p:nvPr/>
        </p:nvSpPr>
        <p:spPr>
          <a:xfrm>
            <a:off x="566928" y="3530000"/>
            <a:ext cx="1106424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E4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Thank You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ubtitle"/>
          <p:cNvSpPr/>
          <p:nvPr/>
        </p:nvSpPr>
        <p:spPr>
          <a:xfrm>
            <a:off x="566928" y="4150000"/>
            <a:ext cx="1106424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Urban Mobility and Traffic Intelligence Dashboard · Urban Pulse — Smart City Mobility Intelligence Platform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Question"/>
          <p:cNvSpPr/>
          <p:nvPr/>
        </p:nvSpPr>
        <p:spPr>
          <a:xfrm>
            <a:off x="566928" y="4530000"/>
            <a:ext cx="1106424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We'd love to answer your questions.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Caption"/>
          <p:cNvSpPr/>
          <p:nvPr/>
        </p:nvSpPr>
        <p:spPr>
          <a:xfrm>
            <a:off x="566928" y="4980000"/>
            <a:ext cx="1106424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B6B7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Infosys Springboard  ·  Data Visualization Project  ·  August 2026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121" y="13335"/>
            <a:ext cx="1657350" cy="12668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568</TotalTime>
  <Words>2416</Words>
  <Application>Microsoft Office PowerPoint</Application>
  <PresentationFormat>Widescreen</PresentationFormat>
  <Paragraphs>348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Suyash Agrawaal</cp:lastModifiedBy>
  <cp:revision>6</cp:revision>
  <dcterms:created xsi:type="dcterms:W3CDTF">2026-08-24T15:05:55Z</dcterms:created>
  <dcterms:modified xsi:type="dcterms:W3CDTF">2026-09-06T11:34:06Z</dcterms:modified>
</cp:coreProperties>
</file>